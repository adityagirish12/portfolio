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2AB5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Personnel</c:v>
                  </c:pt>
                  <c:pt idx="1">
                    <c:v>Operating</c:v>
                  </c:pt>
                  <c:pt idx="2">
                    <c:v>IT Equipment</c:v>
                  </c:pt>
                  <c:pt idx="3">
                    <c:v>Infrastructure</c:v>
                  </c:pt>
                  <c:pt idx="4">
                    <c:v>Software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227100</c:v>
                </c:pt>
                <c:pt idx="1">
                  <c:v>69000</c:v>
                </c:pt>
                <c:pt idx="2">
                  <c:v>14750</c:v>
                </c:pt>
                <c:pt idx="3">
                  <c:v>7864</c:v>
                </c:pt>
                <c:pt idx="4">
                  <c:v>6310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2AB5A0">
              <a:alpha val="8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2AB5A0">
              <a:alpha val="9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548640" cy="54864"/>
          </a:xfrm>
          <a:prstGeom prst="rect">
            <a:avLst/>
          </a:prstGeom>
          <a:solidFill>
            <a:srgbClr val="2AB5A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MediVault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Healthcare. Patient Controlled. AI Powered.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Requirement Document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EMGT6700: Digital Product Design &amp; Management  |  Northeastern University  |  Fall 2025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2: Aditya Girish Anand  ·  Matthieu Delatour  ·  Dorian Chirackal  ·  Karishma Bahl  ·  Sangeetha Phaneesh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Medical records are everywhere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except where patients need them.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514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011680"/>
            <a:ext cx="2514600" cy="54864"/>
          </a:xfrm>
          <a:prstGeom prst="rect">
            <a:avLst/>
          </a:prstGeom>
          <a:solidFill>
            <a:srgbClr val="2AB5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860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B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patients provide duplicate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info at appointments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2011680"/>
            <a:ext cx="2514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20440" y="2011680"/>
            <a:ext cx="2514600" cy="54864"/>
          </a:xfrm>
          <a:prstGeom prst="rect">
            <a:avLst/>
          </a:prstGeom>
          <a:solidFill>
            <a:srgbClr val="1E8A7A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22860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8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5-8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703320" y="30632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incompatible systems hold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patient's records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011680"/>
            <a:ext cx="2514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2011680"/>
            <a:ext cx="2514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2860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53M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92240" y="30632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unpaid US caregivers lack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access to patient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Fierce Healthcare, Census Bureau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secure app. All your records.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Fully owned by you.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MediVault brings all medical records together in one place with an AI assistant that listens during doctor visits, summarizes prescriptions, and keeps a lifelong consultation history — giving both patients and doctors quick access to complete medical information.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2514600" cy="123444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657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3657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Records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3977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Cross-system aggregation via FHIR APIs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3566160"/>
            <a:ext cx="2514600" cy="123444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3657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60520" y="3657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Visit Mode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60520" y="3977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transcription &amp; plain-language summaries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3566160"/>
            <a:ext cx="2514600" cy="123444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657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49440" y="3657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Owned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49440" y="3977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HIPAA-compliant, granular privacy controls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underserved populations.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2514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08760"/>
            <a:ext cx="2514600" cy="54864"/>
          </a:xfrm>
          <a:prstGeom prst="rect">
            <a:avLst/>
          </a:prstGeom>
          <a:solidFill>
            <a:srgbClr val="2AB5A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A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Young Adults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Managing Mental Health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B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age 18-25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214884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118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Retelling history to every new provider, fragmented records across apps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20440" y="1508760"/>
            <a:ext cx="2514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20440" y="1508760"/>
            <a:ext cx="2514600" cy="54864"/>
          </a:xfrm>
          <a:prstGeom prst="rect">
            <a:avLst/>
          </a:prstGeom>
          <a:solidFill>
            <a:srgbClr val="1E8A7A"/>
          </a:solidFill>
          <a:ln/>
        </p:spPr>
      </p:sp>
      <p:sp>
        <p:nvSpPr>
          <p:cNvPr id="14" name="Text 12"/>
          <p:cNvSpPr/>
          <p:nvPr/>
        </p:nvSpPr>
        <p:spPr>
          <a:xfrm>
            <a:off x="3703320" y="16916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03320" y="19202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Parents of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Infants (0-2 yrs)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03320" y="26517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8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3.6M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703320" y="3108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births per year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03320" y="3474720"/>
            <a:ext cx="214884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Text 17"/>
          <p:cNvSpPr/>
          <p:nvPr/>
        </p:nvSpPr>
        <p:spPr>
          <a:xfrm>
            <a:off x="3703320" y="36118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vaccine cards, missed reminders, daycare enrollment delays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1508760"/>
            <a:ext cx="2514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1508760"/>
            <a:ext cx="2514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16916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92240" y="19202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Seniors with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Polypharmacy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0" y="26517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492240" y="3108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65+ on 5+ meds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92240" y="3474720"/>
            <a:ext cx="214884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36118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conflicts, caregiver access barriers, repeated tests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interviews. Consistent pain points.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276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B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0" y="1664208"/>
            <a:ext cx="18288" cy="4572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/>
          <p:nvPr/>
        </p:nvSpPr>
        <p:spPr>
          <a:xfrm>
            <a:off x="251460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Interviews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14600" y="1901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mental health students, 6 parents, 7 seniors/caregivers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4505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B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286000" y="2487168"/>
            <a:ext cx="18288" cy="4572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Interviews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14600" y="2724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and insurers across Boston healthcare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20040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32735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B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2286000" y="3310128"/>
            <a:ext cx="18288" cy="4572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Text 15"/>
          <p:cNvSpPr/>
          <p:nvPr/>
        </p:nvSpPr>
        <p:spPr>
          <a:xfrm>
            <a:off x="2514600" y="3273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Surveys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14600" y="35478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Record-keeping, incidents, and trust factors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02336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409651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B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83-100%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2286000" y="4133088"/>
            <a:ext cx="18288" cy="4572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20"/>
          <p:cNvSpPr/>
          <p:nvPr/>
        </p:nvSpPr>
        <p:spPr>
          <a:xfrm>
            <a:off x="2514600" y="4096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Rate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514600" y="43708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consistent within each segment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solutions leave a critical gap.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76809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280160"/>
                <a:gridCol w="1188720"/>
                <a:gridCol w="128016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B5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MyChart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B5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Health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B5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OneRecord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B5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Nuance DAX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B5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B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MediVault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+ 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Multi-EHR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EHRs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B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Multi-EHR + FHIR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trends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transcription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B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Scribe + NLP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(limited)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B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B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 patients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B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3 segments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MediVault is the only patient-facing solution combining cross-system unification, AI-powered visit documentation, and segment-specific features.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pillars that set us apart.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B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63040" y="1554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Cross-System Unification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9202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records from multiple EHR systems via FHIR APIs under complete patient control. Unlike MyChart (Epic-only) or FollowMyHealth (network-limited).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8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63040" y="26517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for Patients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30175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patient-facing solution with real-time Visit Mode — translates medical jargon, updates medication lists, flags drug interactions, and creates actionable summaries.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463040" y="3749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Segment-Specific Design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41148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privacy controls for mental health patients, digital vaccination passports for parents, large-font offline access with caregiver delegation for seniors.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converging forces.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28600" cy="228600"/>
          </a:xfrm>
          <a:prstGeom prst="ellipse">
            <a:avLst/>
          </a:prstGeom>
          <a:solidFill>
            <a:srgbClr val="2AB5A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463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Mandates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755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21st Century Cures Act + FHIR standard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228600" cy="228600"/>
          </a:xfrm>
          <a:prstGeom prst="ellipse">
            <a:avLst/>
          </a:prstGeom>
          <a:solidFill>
            <a:srgbClr val="2AB5A0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463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Maturity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0" y="1755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enable accurate real-time medical transcription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228600" cy="228600"/>
          </a:xfrm>
          <a:prstGeom prst="ellipse">
            <a:avLst/>
          </a:prstGeom>
          <a:solidFill>
            <a:srgbClr val="2AB5A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Post-COVID Shift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5786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Pandemic exposed fragmented records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377440"/>
            <a:ext cx="228600" cy="228600"/>
          </a:xfrm>
          <a:prstGeom prst="ellipse">
            <a:avLst/>
          </a:prstGeom>
          <a:solidFill>
            <a:srgbClr val="2AB5A0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Wave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25786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of undergrads report depression symptoms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200400"/>
            <a:ext cx="228600" cy="228600"/>
          </a:xfrm>
          <a:prstGeom prst="ellipse">
            <a:avLst/>
          </a:prstGeom>
          <a:solidFill>
            <a:srgbClr val="2AB5A0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108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Record Crisis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4015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vaccine cards remain standard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200400"/>
            <a:ext cx="228600" cy="228600"/>
          </a:xfrm>
          <a:prstGeom prst="ellipse">
            <a:avLst/>
          </a:prstGeom>
          <a:solidFill>
            <a:srgbClr val="2AB5A0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3108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Population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34015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17.3% of US population now 65+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023360"/>
            <a:ext cx="228600" cy="228600"/>
          </a:xfrm>
          <a:prstGeom prst="ellipse">
            <a:avLst/>
          </a:prstGeom>
          <a:solidFill>
            <a:srgbClr val="2AB5A0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3931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Penetration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42245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 of seniors now own smartphones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4023360"/>
            <a:ext cx="228600" cy="228600"/>
          </a:xfrm>
          <a:prstGeom prst="ellipse">
            <a:avLst/>
          </a:prstGeom>
          <a:solidFill>
            <a:srgbClr val="2AB5A0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3931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Validation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20640" y="42245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$50M+ funding rounds in digital health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experience at launch.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7490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08760"/>
            <a:ext cx="54864" cy="868680"/>
          </a:xfrm>
          <a:prstGeom prst="rect">
            <a:avLst/>
          </a:prstGeom>
          <a:solidFill>
            <a:srgbClr val="2AB5A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Scribe &amp; Visit Mode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8928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Record, transcribe, and summarize doctor visits in real-time with AI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508760"/>
            <a:ext cx="37490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508760"/>
            <a:ext cx="54864" cy="868680"/>
          </a:xfrm>
          <a:prstGeom prst="rect">
            <a:avLst/>
          </a:prstGeom>
          <a:solidFill>
            <a:srgbClr val="2AB5A0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Health Records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8928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database of all appointments, documents, and summaries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37490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560320"/>
            <a:ext cx="54864" cy="868680"/>
          </a:xfrm>
          <a:prstGeom prst="rect">
            <a:avLst/>
          </a:prstGeom>
          <a:solidFill>
            <a:srgbClr val="2AB5A0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Tracker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9443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checklist with prescriptions and dosage reminders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560320"/>
            <a:ext cx="37490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560320"/>
            <a:ext cx="54864" cy="868680"/>
          </a:xfrm>
          <a:prstGeom prst="rect">
            <a:avLst/>
          </a:prstGeom>
          <a:solidFill>
            <a:srgbClr val="2AB5A0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Calendar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9443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Day/week/month view with Google Calendar sync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611880"/>
            <a:ext cx="37490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611880"/>
            <a:ext cx="54864" cy="868680"/>
          </a:xfrm>
          <a:prstGeom prst="rect">
            <a:avLst/>
          </a:prstGeom>
          <a:solidFill>
            <a:srgbClr val="2AB5A0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Wallet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9959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access insurance cards for instant clinic reference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611880"/>
            <a:ext cx="37490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611880"/>
            <a:ext cx="54864" cy="868680"/>
          </a:xfrm>
          <a:prstGeom prst="rect">
            <a:avLst/>
          </a:prstGeom>
          <a:solidFill>
            <a:srgbClr val="2AB5A0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 &amp; Guest Mode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39959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sign-up, login, and guest preview access with HIPAA compliance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MVP to national scale.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7680960" cy="27432"/>
          </a:xfrm>
          <a:prstGeom prst="rect">
            <a:avLst/>
          </a:prstGeom>
          <a:solidFill>
            <a:srgbClr val="2AB5A0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764792"/>
            <a:ext cx="201168" cy="201168"/>
          </a:xfrm>
          <a:prstGeom prst="ellipse">
            <a:avLst/>
          </a:prstGeom>
          <a:solidFill>
            <a:srgbClr val="2AB5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1828800" cy="210312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Launch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early adopters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Visit Mode v1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partner pilot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1764792"/>
            <a:ext cx="201168" cy="201168"/>
          </a:xfrm>
          <a:prstGeom prst="ellipse">
            <a:avLst/>
          </a:prstGeom>
          <a:solidFill>
            <a:srgbClr val="1E8A7A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88920" y="2468880"/>
            <a:ext cx="1828800" cy="210312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297180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 users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 &amp; auto-sync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partner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1764792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2027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468880"/>
            <a:ext cx="1828800" cy="210312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Retention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297180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pilot providers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+ insights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integration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43800" y="1764792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2027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03720" y="2468880"/>
            <a:ext cx="1828800" cy="210312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40880" y="297180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35-50K users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$400-700K ARR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partnerships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measure success.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36192"/>
            <a:ext cx="164592" cy="164592"/>
          </a:xfrm>
          <a:prstGeom prst="ellipse">
            <a:avLst/>
          </a:prstGeom>
          <a:solidFill>
            <a:srgbClr val="2AB5A0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Retention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returning after first week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536192"/>
            <a:ext cx="164592" cy="164592"/>
          </a:xfrm>
          <a:prstGeom prst="ellipse">
            <a:avLst/>
          </a:prstGeom>
          <a:solidFill>
            <a:srgbClr val="2AB5A0"/>
          </a:solidFill>
          <a:ln/>
        </p:spPr>
      </p:sp>
      <p:sp>
        <p:nvSpPr>
          <p:cNvPr id="8" name="Text 6"/>
          <p:cNvSpPr/>
          <p:nvPr/>
        </p:nvSpPr>
        <p:spPr>
          <a:xfrm>
            <a:off x="507492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for AI Summary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492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satisfaction with AI Visit Mode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340864"/>
            <a:ext cx="164592" cy="164592"/>
          </a:xfrm>
          <a:prstGeom prst="ellipse">
            <a:avLst/>
          </a:prstGeom>
          <a:solidFill>
            <a:srgbClr val="2AB5A0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267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Sync Rate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upload/sync completion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340864"/>
            <a:ext cx="164592" cy="164592"/>
          </a:xfrm>
          <a:prstGeom prst="ellipse">
            <a:avLst/>
          </a:prstGeom>
          <a:solidFill>
            <a:srgbClr val="2AB5A0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2267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TTFMA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meaningful action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145536"/>
            <a:ext cx="164592" cy="164592"/>
          </a:xfrm>
          <a:prstGeom prst="ellipse">
            <a:avLst/>
          </a:prstGeom>
          <a:solidFill>
            <a:srgbClr val="2AB5A0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072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346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active users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145536"/>
            <a:ext cx="164592" cy="164592"/>
          </a:xfrm>
          <a:prstGeom prst="ellipse">
            <a:avLst/>
          </a:prstGeom>
          <a:solidFill>
            <a:srgbClr val="2AB5A0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3072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Sessions/User/Mo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4920" y="3346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Mode engagement depth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950208"/>
            <a:ext cx="164592" cy="164592"/>
          </a:xfrm>
          <a:prstGeom prst="ellipse">
            <a:avLst/>
          </a:prstGeom>
          <a:solidFill>
            <a:srgbClr val="2AB5A0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38770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Concerns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41513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stay under 20% of user count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950208"/>
            <a:ext cx="164592" cy="164592"/>
          </a:xfrm>
          <a:prstGeom prst="ellipse">
            <a:avLst/>
          </a:prstGeom>
          <a:solidFill>
            <a:srgbClr val="2AB5A0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38770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74920" y="41513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recurring revenue from premium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BUDGET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$325K for 3-month MVP development.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55448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554480"/>
            <a:ext cx="23774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17920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9-Person Team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0" y="2103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0" y="2359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Software Engineer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0" y="26151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0" y="287121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Engineer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0" y="31272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Designer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0" y="3383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0" y="36393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Cloud/DevOps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0" y="38953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Advisor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00800" y="41513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Advisor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MITIGATION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Proactive risk management.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68580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4864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361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Breach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0" y="153619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encryption, zero-knowledge architecture, third-party penetration testing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68580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286000"/>
            <a:ext cx="54864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3591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Interoperability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235915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Visit Mode as interim capture; partner with Particle Health for FHIR API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7680960" cy="68580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108960"/>
            <a:ext cx="54864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1821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Reliability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318211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Disclaimers, original audio alongside summaries, human-in-the-loop verification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7680960" cy="685800"/>
          </a:xfrm>
          <a:prstGeom prst="rect">
            <a:avLst/>
          </a:prstGeom>
          <a:solidFill>
            <a:srgbClr val="1C2127"/>
          </a:solidFill>
          <a:ln w="12700">
            <a:solidFill>
              <a:srgbClr val="2A30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931920"/>
            <a:ext cx="54864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0050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Barriers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08960" y="400507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+ HITRUST certifications, university and clinic partnerships for credibility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2AB5A0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2AB5A0">
              <a:alpha val="93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840480" y="1371600"/>
            <a:ext cx="1463040" cy="54864"/>
          </a:xfrm>
          <a:prstGeom prst="rect">
            <a:avLst/>
          </a:prstGeom>
          <a:solidFill>
            <a:srgbClr val="2AB5A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MediVault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health. Your records. Your control.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|  EMGT6700  |  Northeastern University  |  Fall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MediVault - Product Requirement Document</dc:title>
  <dc:subject>PptxGenJS Presentation</dc:subject>
  <dc:creator>Aditya Girish Anand</dc:creator>
  <cp:lastModifiedBy>Aditya Girish Anand</cp:lastModifiedBy>
  <cp:revision>1</cp:revision>
  <dcterms:created xsi:type="dcterms:W3CDTF">2026-03-18T16:07:19Z</dcterms:created>
  <dcterms:modified xsi:type="dcterms:W3CDTF">2026-03-18T16:07:19Z</dcterms:modified>
</cp:coreProperties>
</file>